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985F0B-F83C-476B-A712-34B932C23FB1}" v="50" dt="2026-07-12T14:14:47.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21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449C68-EC25-4C20-9C85-2C6D174ED74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389437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449C68-EC25-4C20-9C85-2C6D174ED74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602428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449C68-EC25-4C20-9C85-2C6D174ED74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97611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449C68-EC25-4C20-9C85-2C6D174ED744}"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2810942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449C68-EC25-4C20-9C85-2C6D174ED744}" type="datetimeFigureOut">
              <a:rPr lang="en-IN" smtClean="0"/>
              <a:t>12-07-2026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931094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449C68-EC25-4C20-9C85-2C6D174ED744}" type="datetimeFigureOut">
              <a:rPr lang="en-IN" smtClean="0"/>
              <a:t>12-07-2026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002950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449C68-EC25-4C20-9C85-2C6D174ED744}" type="datetimeFigureOut">
              <a:rPr lang="en-IN" smtClean="0"/>
              <a:t>12-07-2026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767933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449C68-EC25-4C20-9C85-2C6D174ED744}"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79601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449C68-EC25-4C20-9C85-2C6D174ED744}" type="datetimeFigureOut">
              <a:rPr lang="en-IN" smtClean="0"/>
              <a:t>12-07-2026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4188702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449C68-EC25-4C20-9C85-2C6D174ED74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2283689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449C68-EC25-4C20-9C85-2C6D174ED744}" type="datetimeFigureOut">
              <a:rPr lang="en-IN" smtClean="0"/>
              <a:t>12-07-2026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1E959-6F7F-44AB-B58F-40D91D3286E7}" type="slidenum">
              <a:rPr lang="en-IN" smtClean="0"/>
              <a:t>‹#›</a:t>
            </a:fld>
            <a:endParaRPr lang="en-IN"/>
          </a:p>
        </p:txBody>
      </p:sp>
    </p:spTree>
    <p:extLst>
      <p:ext uri="{BB962C8B-B14F-4D97-AF65-F5344CB8AC3E}">
        <p14:creationId xmlns:p14="http://schemas.microsoft.com/office/powerpoint/2010/main" val="1430006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449C68-EC25-4C20-9C85-2C6D174ED744}" type="datetimeFigureOut">
              <a:rPr lang="en-IN" smtClean="0"/>
              <a:t>12-07-2026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1E959-6F7F-44AB-B58F-40D91D3286E7}" type="slidenum">
              <a:rPr lang="en-IN" smtClean="0"/>
              <a:t>‹#›</a:t>
            </a:fld>
            <a:endParaRPr lang="en-IN"/>
          </a:p>
        </p:txBody>
      </p:sp>
    </p:spTree>
    <p:extLst>
      <p:ext uri="{BB962C8B-B14F-4D97-AF65-F5344CB8AC3E}">
        <p14:creationId xmlns:p14="http://schemas.microsoft.com/office/powerpoint/2010/main" val="24241886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hdsr.mitpress.mit.edu/pub/w974bwb0"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A492-7508-7D8D-35F6-7485683646C0}"/>
              </a:ext>
            </a:extLst>
          </p:cNvPr>
          <p:cNvSpPr>
            <a:spLocks noGrp="1"/>
          </p:cNvSpPr>
          <p:nvPr>
            <p:ph type="ctrTitle"/>
          </p:nvPr>
        </p:nvSpPr>
        <p:spPr>
          <a:xfrm>
            <a:off x="685800" y="704088"/>
            <a:ext cx="10387584" cy="2615184"/>
          </a:xfrm>
        </p:spPr>
        <p:txBody>
          <a:bodyPr>
            <a:normAutofit/>
          </a:bodyPr>
          <a:lstStyle/>
          <a:p>
            <a:r>
              <a:rPr lang="en-IN" b="1" dirty="0"/>
              <a:t>IBM University Engagement Project Submission</a:t>
            </a:r>
          </a:p>
        </p:txBody>
      </p:sp>
      <p:sp>
        <p:nvSpPr>
          <p:cNvPr id="3" name="Subtitle 2">
            <a:extLst>
              <a:ext uri="{FF2B5EF4-FFF2-40B4-BE49-F238E27FC236}">
                <a16:creationId xmlns:a16="http://schemas.microsoft.com/office/drawing/2014/main" id="{FA59861C-9844-0345-3679-6C403EA660D5}"/>
              </a:ext>
            </a:extLst>
          </p:cNvPr>
          <p:cNvSpPr>
            <a:spLocks noGrp="1"/>
          </p:cNvSpPr>
          <p:nvPr>
            <p:ph type="subTitle" idx="1"/>
          </p:nvPr>
        </p:nvSpPr>
        <p:spPr>
          <a:xfrm>
            <a:off x="1679448" y="3757486"/>
            <a:ext cx="9144000" cy="1655762"/>
          </a:xfrm>
        </p:spPr>
        <p:txBody>
          <a:bodyPr/>
          <a:lstStyle/>
          <a:p>
            <a:r>
              <a:rPr lang="en-IN" b="1" i="1" dirty="0"/>
              <a:t>“Exploring the Power of Agentic AI and Intelligent Error Routing with IBM </a:t>
            </a:r>
            <a:r>
              <a:rPr lang="en-IN" b="1" i="1" dirty="0" err="1"/>
              <a:t>watsonx</a:t>
            </a:r>
            <a:r>
              <a:rPr lang="en-IN" b="1" i="1" dirty="0"/>
              <a:t> Assistant”</a:t>
            </a:r>
          </a:p>
        </p:txBody>
      </p:sp>
    </p:spTree>
    <p:extLst>
      <p:ext uri="{BB962C8B-B14F-4D97-AF65-F5344CB8AC3E}">
        <p14:creationId xmlns:p14="http://schemas.microsoft.com/office/powerpoint/2010/main" val="4207392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F77A6-5922-C83F-9DE2-CB7B361F3B45}"/>
              </a:ext>
            </a:extLst>
          </p:cNvPr>
          <p:cNvSpPr>
            <a:spLocks noGrp="1"/>
          </p:cNvSpPr>
          <p:nvPr>
            <p:ph type="title"/>
          </p:nvPr>
        </p:nvSpPr>
        <p:spPr>
          <a:xfrm>
            <a:off x="838200" y="155448"/>
            <a:ext cx="10515600" cy="1535241"/>
          </a:xfrm>
        </p:spPr>
        <p:txBody>
          <a:bodyPr>
            <a:noAutofit/>
          </a:bodyPr>
          <a:lstStyle/>
          <a:p>
            <a:r>
              <a:rPr lang="en-IN" sz="2800" b="1" dirty="0"/>
              <a:t>Project Tile – Automated DevOps &amp; IT Incident Router Agent using IBM </a:t>
            </a:r>
            <a:r>
              <a:rPr lang="en-IN" sz="2800" b="1" dirty="0" err="1"/>
              <a:t>watsonx</a:t>
            </a:r>
            <a:r>
              <a:rPr lang="en-IN" sz="2800" b="1" dirty="0"/>
              <a:t> Assistant</a:t>
            </a:r>
            <a:br>
              <a:rPr lang="en-IN" sz="2800" dirty="0"/>
            </a:br>
            <a:br>
              <a:rPr lang="en-IN" sz="2800" dirty="0"/>
            </a:br>
            <a:r>
              <a:rPr lang="en-IN" sz="2800" b="1" dirty="0"/>
              <a:t>Domain of  Project – Cloud Computing / DevOps / IT Automation</a:t>
            </a:r>
          </a:p>
        </p:txBody>
      </p:sp>
      <p:sp>
        <p:nvSpPr>
          <p:cNvPr id="3" name="Content Placeholder 2">
            <a:extLst>
              <a:ext uri="{FF2B5EF4-FFF2-40B4-BE49-F238E27FC236}">
                <a16:creationId xmlns:a16="http://schemas.microsoft.com/office/drawing/2014/main" id="{EFBC7E3E-21D0-4B5C-BF56-CD5C529FC9A4}"/>
              </a:ext>
            </a:extLst>
          </p:cNvPr>
          <p:cNvSpPr>
            <a:spLocks noGrp="1"/>
          </p:cNvSpPr>
          <p:nvPr>
            <p:ph idx="1"/>
          </p:nvPr>
        </p:nvSpPr>
        <p:spPr>
          <a:xfrm>
            <a:off x="0" y="1837944"/>
            <a:ext cx="12192000" cy="4339018"/>
          </a:xfrm>
        </p:spPr>
        <p:txBody>
          <a:bodyPr/>
          <a:lstStyle/>
          <a:p>
            <a:pPr marL="0" indent="0">
              <a:buNone/>
            </a:pPr>
            <a:endParaRPr lang="en-US" dirty="0"/>
          </a:p>
          <a:p>
            <a:pPr marL="0" indent="0">
              <a:buNone/>
            </a:pPr>
            <a:r>
              <a:rPr lang="en-IN" u="sng" dirty="0"/>
              <a:t>Student Name</a:t>
            </a:r>
            <a:r>
              <a:rPr lang="en-IN" dirty="0"/>
              <a:t>    </a:t>
            </a:r>
            <a:r>
              <a:rPr lang="en-IN" u="sng" dirty="0"/>
              <a:t>Passport size photo</a:t>
            </a:r>
            <a:r>
              <a:rPr lang="en-IN" dirty="0"/>
              <a:t>      </a:t>
            </a:r>
            <a:r>
              <a:rPr lang="en-IN" u="sng" dirty="0"/>
              <a:t>Email id</a:t>
            </a:r>
            <a:r>
              <a:rPr lang="en-IN" dirty="0"/>
              <a:t>                             </a:t>
            </a:r>
            <a:r>
              <a:rPr lang="en-IN" u="sng" dirty="0"/>
              <a:t>Mobile No</a:t>
            </a:r>
            <a:r>
              <a:rPr lang="en-IN" sz="2000" u="sng" dirty="0"/>
              <a:t>.(</a:t>
            </a:r>
            <a:r>
              <a:rPr lang="en-IN" sz="2000" u="sng" dirty="0" err="1"/>
              <a:t>Whatsapp</a:t>
            </a:r>
            <a:r>
              <a:rPr lang="en-IN" sz="2000" u="sng" dirty="0"/>
              <a:t>)</a:t>
            </a:r>
          </a:p>
          <a:p>
            <a:pPr marL="0" indent="0">
              <a:buNone/>
            </a:pPr>
            <a:r>
              <a:rPr lang="en-IN" sz="2400" b="1" dirty="0"/>
              <a:t>Vibhuti Sharma</a:t>
            </a:r>
            <a:r>
              <a:rPr lang="en-IN" dirty="0"/>
              <a:t>                                     </a:t>
            </a:r>
            <a:r>
              <a:rPr lang="en-IN" sz="2400" b="1" dirty="0"/>
              <a:t>vibhutisharma1882006@gmail.com       9811266501</a:t>
            </a:r>
          </a:p>
          <a:p>
            <a:pPr marL="0" indent="0">
              <a:buNone/>
            </a:pPr>
            <a:r>
              <a:rPr lang="en-IN" sz="2400" b="1" dirty="0"/>
              <a:t>                                                                                                                                                                          </a:t>
            </a:r>
          </a:p>
          <a:p>
            <a:pPr marL="0" indent="0">
              <a:buNone/>
            </a:pPr>
            <a:endParaRPr lang="en-IN" dirty="0"/>
          </a:p>
          <a:p>
            <a:pPr marL="0" indent="0">
              <a:buNone/>
            </a:pPr>
            <a:endParaRPr lang="en-IN" dirty="0"/>
          </a:p>
          <a:p>
            <a:pPr marL="0" indent="0">
              <a:buNone/>
            </a:pPr>
            <a:r>
              <a:rPr lang="en-IN" dirty="0"/>
              <a:t>          </a:t>
            </a:r>
          </a:p>
        </p:txBody>
      </p:sp>
      <p:pic>
        <p:nvPicPr>
          <p:cNvPr id="5" name="Picture 4">
            <a:extLst>
              <a:ext uri="{FF2B5EF4-FFF2-40B4-BE49-F238E27FC236}">
                <a16:creationId xmlns:a16="http://schemas.microsoft.com/office/drawing/2014/main" id="{5856DF79-9206-53A1-637B-B1D00F33154D}"/>
              </a:ext>
            </a:extLst>
          </p:cNvPr>
          <p:cNvPicPr>
            <a:picLocks noChangeAspect="1"/>
          </p:cNvPicPr>
          <p:nvPr/>
        </p:nvPicPr>
        <p:blipFill>
          <a:blip r:embed="rId2"/>
          <a:stretch>
            <a:fillRect/>
          </a:stretch>
        </p:blipFill>
        <p:spPr>
          <a:xfrm>
            <a:off x="3108960" y="2871319"/>
            <a:ext cx="974331" cy="1279953"/>
          </a:xfrm>
          <a:prstGeom prst="rect">
            <a:avLst/>
          </a:prstGeom>
        </p:spPr>
      </p:pic>
    </p:spTree>
    <p:extLst>
      <p:ext uri="{BB962C8B-B14F-4D97-AF65-F5344CB8AC3E}">
        <p14:creationId xmlns:p14="http://schemas.microsoft.com/office/powerpoint/2010/main" val="2895695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4CECA-EDB1-97ED-C0D2-03A350281D73}"/>
              </a:ext>
            </a:extLst>
          </p:cNvPr>
          <p:cNvSpPr>
            <a:spLocks noGrp="1"/>
          </p:cNvSpPr>
          <p:nvPr>
            <p:ph type="title"/>
          </p:nvPr>
        </p:nvSpPr>
        <p:spPr>
          <a:xfrm>
            <a:off x="114300" y="173737"/>
            <a:ext cx="11239500" cy="912113"/>
          </a:xfrm>
        </p:spPr>
        <p:txBody>
          <a:bodyPr>
            <a:normAutofit/>
          </a:bodyPr>
          <a:lstStyle/>
          <a:p>
            <a:r>
              <a:rPr lang="en-IN" sz="4000" b="1" dirty="0"/>
              <a:t>Problem Statement -</a:t>
            </a:r>
            <a:endParaRPr lang="en-IN" sz="4000" dirty="0"/>
          </a:p>
        </p:txBody>
      </p:sp>
      <p:sp>
        <p:nvSpPr>
          <p:cNvPr id="3" name="Content Placeholder 2">
            <a:extLst>
              <a:ext uri="{FF2B5EF4-FFF2-40B4-BE49-F238E27FC236}">
                <a16:creationId xmlns:a16="http://schemas.microsoft.com/office/drawing/2014/main" id="{146F49DF-A21F-8C01-88FA-48E6127CA757}"/>
              </a:ext>
            </a:extLst>
          </p:cNvPr>
          <p:cNvSpPr>
            <a:spLocks noGrp="1"/>
          </p:cNvSpPr>
          <p:nvPr>
            <p:ph idx="1"/>
          </p:nvPr>
        </p:nvSpPr>
        <p:spPr>
          <a:xfrm>
            <a:off x="0" y="1085850"/>
            <a:ext cx="12192000" cy="5772150"/>
          </a:xfrm>
        </p:spPr>
        <p:txBody>
          <a:bodyPr>
            <a:normAutofit fontScale="62500" lnSpcReduction="20000"/>
          </a:bodyPr>
          <a:lstStyle/>
          <a:p>
            <a:pPr marL="0" indent="0">
              <a:buNone/>
            </a:pPr>
            <a:r>
              <a:rPr lang="en-IN" b="1" dirty="0"/>
              <a:t>Problem Statement: Enterprise IT Incident Router Agent</a:t>
            </a:r>
          </a:p>
          <a:p>
            <a:pPr marL="0" indent="0">
              <a:buNone/>
            </a:pPr>
            <a:endParaRPr lang="en-IN" b="1" dirty="0"/>
          </a:p>
          <a:p>
            <a:pPr marL="0" indent="0">
              <a:buNone/>
            </a:pPr>
            <a:r>
              <a:rPr lang="en-IN" b="1" dirty="0"/>
              <a:t>The Challenge</a:t>
            </a:r>
          </a:p>
          <a:p>
            <a:pPr marL="0" indent="0">
              <a:buNone/>
            </a:pPr>
            <a:r>
              <a:rPr lang="en-IN" dirty="0"/>
              <a:t>System uptime is critical for enterprise continuity, but operations teams constantly struggle with </a:t>
            </a:r>
            <a:r>
              <a:rPr lang="en-IN" b="1" dirty="0"/>
              <a:t>manual incident triage, delayed response times, and routing bottlenecks</a:t>
            </a:r>
            <a:r>
              <a:rPr lang="en-IN" dirty="0"/>
              <a:t> during production outages. Information about system crashes, error logs, and protocol escalations is buried within massive, unstructured log dumps across distributed environments. Without </a:t>
            </a:r>
            <a:r>
              <a:rPr lang="en-IN" b="1" dirty="0"/>
              <a:t>automated, real-time diagnostic routing</a:t>
            </a:r>
            <a:r>
              <a:rPr lang="en-IN" dirty="0"/>
              <a:t>, critical infrastructure failures (such as server errors or data breaches) take hours to reach the correct engineering team, leading to massive financial losses and prolonged system downtime.</a:t>
            </a:r>
          </a:p>
          <a:p>
            <a:pPr marL="0" indent="0">
              <a:buNone/>
            </a:pPr>
            <a:endParaRPr lang="en-IN" b="1" dirty="0"/>
          </a:p>
          <a:p>
            <a:pPr marL="0" indent="0">
              <a:buNone/>
            </a:pPr>
            <a:r>
              <a:rPr lang="en-IN" b="1" dirty="0"/>
              <a:t>The Objective</a:t>
            </a:r>
          </a:p>
          <a:p>
            <a:pPr marL="0" indent="0">
              <a:buNone/>
            </a:pPr>
            <a:r>
              <a:rPr lang="en-IN" dirty="0"/>
              <a:t>Build an </a:t>
            </a:r>
            <a:r>
              <a:rPr lang="en-IN" b="1" dirty="0"/>
              <a:t>AI-powered Enterprise IT Incident Router Agent</a:t>
            </a:r>
            <a:r>
              <a:rPr lang="en-IN" dirty="0"/>
              <a:t> using </a:t>
            </a:r>
            <a:r>
              <a:rPr lang="en-IN" b="1" dirty="0"/>
              <a:t>IBM </a:t>
            </a:r>
            <a:r>
              <a:rPr lang="en-IN" b="1" dirty="0" err="1"/>
              <a:t>watsonx</a:t>
            </a:r>
            <a:r>
              <a:rPr lang="en-IN" b="1" dirty="0"/>
              <a:t> Assistant</a:t>
            </a:r>
            <a:r>
              <a:rPr lang="en-IN" dirty="0"/>
              <a:t> that delivers </a:t>
            </a:r>
            <a:r>
              <a:rPr lang="en-IN" b="1" dirty="0"/>
              <a:t>instant, automated infrastructure triage and logic-based routing</a:t>
            </a:r>
            <a:r>
              <a:rPr lang="en-IN" dirty="0"/>
              <a:t> for enterprise DevOps environments. The solution should:</a:t>
            </a:r>
          </a:p>
          <a:p>
            <a:r>
              <a:rPr lang="en-IN" b="1" dirty="0"/>
              <a:t>Instant Incident Intent Recognition</a:t>
            </a:r>
            <a:r>
              <a:rPr lang="en-IN" dirty="0"/>
              <a:t> – Automatically identify and categorize incoming technical failure trigger phrases (such as "System Error") using Natural Language Processing (NLP).</a:t>
            </a:r>
          </a:p>
          <a:p>
            <a:r>
              <a:rPr lang="en-IN" b="1" dirty="0"/>
              <a:t>Multi-Branch Conditional Routing</a:t>
            </a:r>
            <a:r>
              <a:rPr lang="en-IN" dirty="0"/>
              <a:t> – Instantly parse explicit system response parameters ($500$, $401$, $404$) to triage the blast radius and isolate the root cause.</a:t>
            </a:r>
          </a:p>
          <a:p>
            <a:r>
              <a:rPr lang="en-IN" b="1" dirty="0"/>
              <a:t>Autonomous DevOps Escalation</a:t>
            </a:r>
            <a:r>
              <a:rPr lang="en-IN" dirty="0"/>
              <a:t> – Route critical production issues directly to specialized engineering rotation teams (e.g., Backend DevOps, Security Operations, or Frontend Engineering) without human intervention.</a:t>
            </a:r>
          </a:p>
          <a:p>
            <a:r>
              <a:rPr lang="en-IN" b="1" dirty="0"/>
              <a:t>Session Optimization &amp; Flow Control</a:t>
            </a:r>
            <a:r>
              <a:rPr lang="en-IN" dirty="0"/>
              <a:t> – Implement strict runtime execution parameters (such as End the action states) to secure session bounds and eliminate message bleeding between testing environments.</a:t>
            </a:r>
          </a:p>
          <a:p>
            <a:r>
              <a:rPr lang="en-IN" b="1" dirty="0"/>
              <a:t>Low-Code/No-Code Platform Orchestration</a:t>
            </a:r>
            <a:r>
              <a:rPr lang="en-IN" dirty="0"/>
              <a:t> – Design a highly scalable, visual dialogue architecture built entirely inside IBM's flagship platform, making it enterprise-ready for instant deployment.</a:t>
            </a:r>
          </a:p>
          <a:p>
            <a:pPr marL="0" indent="0">
              <a:buNone/>
            </a:pPr>
            <a:endParaRPr lang="en-IN" dirty="0"/>
          </a:p>
        </p:txBody>
      </p:sp>
    </p:spTree>
    <p:extLst>
      <p:ext uri="{BB962C8B-B14F-4D97-AF65-F5344CB8AC3E}">
        <p14:creationId xmlns:p14="http://schemas.microsoft.com/office/powerpoint/2010/main" val="2684449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57FE-7E71-4127-E448-1E367B07DB9C}"/>
              </a:ext>
            </a:extLst>
          </p:cNvPr>
          <p:cNvSpPr>
            <a:spLocks noGrp="1"/>
          </p:cNvSpPr>
          <p:nvPr>
            <p:ph type="title"/>
          </p:nvPr>
        </p:nvSpPr>
        <p:spPr>
          <a:xfrm>
            <a:off x="304800" y="114300"/>
            <a:ext cx="11049001" cy="866775"/>
          </a:xfrm>
        </p:spPr>
        <p:txBody>
          <a:bodyPr>
            <a:normAutofit/>
          </a:bodyPr>
          <a:lstStyle/>
          <a:p>
            <a:r>
              <a:rPr lang="en-IN" sz="3600" b="1" dirty="0"/>
              <a:t>Proposed Solution -</a:t>
            </a:r>
          </a:p>
        </p:txBody>
      </p:sp>
      <p:sp>
        <p:nvSpPr>
          <p:cNvPr id="3" name="Content Placeholder 2">
            <a:extLst>
              <a:ext uri="{FF2B5EF4-FFF2-40B4-BE49-F238E27FC236}">
                <a16:creationId xmlns:a16="http://schemas.microsoft.com/office/drawing/2014/main" id="{DCC9FAF0-6F99-8B92-C5A0-EE310E2A0BCC}"/>
              </a:ext>
            </a:extLst>
          </p:cNvPr>
          <p:cNvSpPr>
            <a:spLocks noGrp="1"/>
          </p:cNvSpPr>
          <p:nvPr>
            <p:ph idx="1"/>
          </p:nvPr>
        </p:nvSpPr>
        <p:spPr>
          <a:xfrm>
            <a:off x="0" y="981076"/>
            <a:ext cx="12192000" cy="5876924"/>
          </a:xfrm>
        </p:spPr>
        <p:txBody>
          <a:bodyPr>
            <a:normAutofit fontScale="62500" lnSpcReduction="20000"/>
          </a:bodyPr>
          <a:lstStyle/>
          <a:p>
            <a:pPr marL="0" indent="0">
              <a:buNone/>
            </a:pPr>
            <a:r>
              <a:rPr lang="en-IN" sz="3200" b="1" dirty="0"/>
              <a:t>Proposed Solution: Automated DevOps &amp; IT Incident Router Agent</a:t>
            </a:r>
          </a:p>
          <a:p>
            <a:pPr marL="0" indent="0">
              <a:buNone/>
            </a:pPr>
            <a:r>
              <a:rPr lang="en-IN" dirty="0"/>
              <a:t>The proposed solution is an enterprise-grade </a:t>
            </a:r>
            <a:r>
              <a:rPr lang="en-IN" b="1" dirty="0"/>
              <a:t>Automated IT Incident Router Agent</a:t>
            </a:r>
            <a:r>
              <a:rPr lang="en-IN" dirty="0"/>
              <a:t> built using the </a:t>
            </a:r>
            <a:r>
              <a:rPr lang="en-IN" b="1" dirty="0"/>
              <a:t>IBM </a:t>
            </a:r>
            <a:r>
              <a:rPr lang="en-IN" b="1" dirty="0" err="1"/>
              <a:t>watsonx</a:t>
            </a:r>
            <a:r>
              <a:rPr lang="en-IN" b="1" dirty="0"/>
              <a:t> Assistant</a:t>
            </a:r>
            <a:r>
              <a:rPr lang="en-IN" dirty="0"/>
              <a:t> platform to provide personalized, real-time diagnostic routing and Level-1 (L1) DevOps triage. The system addresses the critical challenges of server downtime, delayed incident responses, and manual routing bottlenecks through an intelligent, conversational architecture.</a:t>
            </a:r>
          </a:p>
          <a:p>
            <a:pPr marL="0" indent="0">
              <a:buNone/>
            </a:pPr>
            <a:r>
              <a:rPr lang="en-IN" dirty="0"/>
              <a:t>At its core, the solution utilizes a </a:t>
            </a:r>
            <a:r>
              <a:rPr lang="en-IN" b="1" dirty="0"/>
              <a:t>Natural Language Understanding (NLU)</a:t>
            </a:r>
            <a:r>
              <a:rPr lang="en-IN" dirty="0"/>
              <a:t> engine to parse unstructured incoming text from system administrators or automated infrastructure alerts. The assistant instantly extracts intents from system incident triggers (such as "System Error"), mapping them seamlessly into specialized execution logic fields.</a:t>
            </a:r>
          </a:p>
          <a:p>
            <a:pPr marL="0" indent="0">
              <a:buNone/>
            </a:pPr>
            <a:r>
              <a:rPr lang="en-IN" dirty="0"/>
              <a:t>The system consists of three key automated routing branches:</a:t>
            </a:r>
          </a:p>
          <a:p>
            <a:pPr marL="0" indent="0">
              <a:buNone/>
            </a:pPr>
            <a:r>
              <a:rPr lang="en-IN" b="1" dirty="0"/>
              <a:t>1) 500 Internal Server Error Branch:</a:t>
            </a:r>
            <a:r>
              <a:rPr lang="en-IN" dirty="0"/>
              <a:t> Dispatches high-priority database extraction logs and routes urgent connection recovery flags directly to the </a:t>
            </a:r>
            <a:r>
              <a:rPr lang="en-IN" b="1" dirty="0"/>
              <a:t>Backend    DevOps Engineering Team</a:t>
            </a:r>
            <a:r>
              <a:rPr lang="en-IN" dirty="0"/>
              <a:t>.</a:t>
            </a:r>
          </a:p>
          <a:p>
            <a:pPr marL="0" indent="0">
              <a:buNone/>
            </a:pPr>
            <a:r>
              <a:rPr lang="en-IN" b="1" dirty="0"/>
              <a:t>2) 401 Unauthorized Access Branch:</a:t>
            </a:r>
            <a:r>
              <a:rPr lang="en-IN" dirty="0"/>
              <a:t> Identifies API gateway handshake failures, flags malicious token states, and instantly escalates a high-priority alert to  the </a:t>
            </a:r>
            <a:r>
              <a:rPr lang="en-IN" b="1" dirty="0"/>
              <a:t>Security Operations </a:t>
            </a:r>
            <a:r>
              <a:rPr lang="en-IN" b="1" dirty="0" err="1"/>
              <a:t>Center</a:t>
            </a:r>
            <a:r>
              <a:rPr lang="en-IN" b="1" dirty="0"/>
              <a:t> (SOC)</a:t>
            </a:r>
            <a:r>
              <a:rPr lang="en-IN" dirty="0"/>
              <a:t>.</a:t>
            </a:r>
          </a:p>
          <a:p>
            <a:pPr marL="0" indent="0">
              <a:buNone/>
            </a:pPr>
            <a:r>
              <a:rPr lang="en-IN" b="1" dirty="0"/>
              <a:t>3) 404 Not Found Branch:</a:t>
            </a:r>
            <a:r>
              <a:rPr lang="en-IN" dirty="0"/>
              <a:t> Isolates broken asset endpoints, maps unlinked web addresses, and seamlessly queues lower-priority maintenance tickets for the </a:t>
            </a:r>
            <a:r>
              <a:rPr lang="en-IN" b="1" dirty="0"/>
              <a:t>Frontend Engineering Rotation</a:t>
            </a:r>
            <a:r>
              <a:rPr lang="en-IN" dirty="0"/>
              <a:t>.</a:t>
            </a:r>
          </a:p>
          <a:p>
            <a:pPr marL="0" indent="0">
              <a:buNone/>
            </a:pPr>
            <a:r>
              <a:rPr lang="en-IN" dirty="0"/>
              <a:t>The solution includes a user-friendly, enterprise-ready </a:t>
            </a:r>
            <a:r>
              <a:rPr lang="en-IN" b="1" dirty="0"/>
              <a:t>Web Chat Widget Dashboard</a:t>
            </a:r>
            <a:r>
              <a:rPr lang="en-IN" dirty="0"/>
              <a:t> (fully customized with a modern dark theme) that visually displays quick-action triggers, tracks prompt history, and allows live standalone interaction across hosted staging environments.</a:t>
            </a:r>
          </a:p>
          <a:p>
            <a:pPr marL="0" indent="0">
              <a:buNone/>
            </a:pPr>
            <a:r>
              <a:rPr lang="en-IN" dirty="0"/>
              <a:t>IBM </a:t>
            </a:r>
            <a:r>
              <a:rPr lang="en-IN" dirty="0" err="1"/>
              <a:t>watsonx</a:t>
            </a:r>
            <a:r>
              <a:rPr lang="en-IN" dirty="0"/>
              <a:t> Assistant acts as the central orchestration platform, handling intent classification, dialog slot filling, and execution state parameters. Native platform rules govern strict boundary control through explicit conversation endings (End the action), preventing response bleeding across live sessions.</a:t>
            </a:r>
          </a:p>
          <a:p>
            <a:pPr marL="0" indent="0">
              <a:buNone/>
            </a:pPr>
            <a:r>
              <a:rPr lang="en-IN" dirty="0"/>
              <a:t>Overall, this solution delivers an end-to-end intelligent infrastructure automation asset that dramatically minimizes enterprise Mean Time to Resolution (MTTR), optimizes cloud compute telemetry, and safeguards continuous pipeline availability through proactive incident orchestration.</a:t>
            </a:r>
          </a:p>
          <a:p>
            <a:pPr marL="0" indent="0">
              <a:buNone/>
            </a:pPr>
            <a:endParaRPr lang="en-IN" dirty="0"/>
          </a:p>
        </p:txBody>
      </p:sp>
    </p:spTree>
    <p:extLst>
      <p:ext uri="{BB962C8B-B14F-4D97-AF65-F5344CB8AC3E}">
        <p14:creationId xmlns:p14="http://schemas.microsoft.com/office/powerpoint/2010/main" val="3123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F858A-E47D-C2D7-61E5-E73814ABC490}"/>
              </a:ext>
            </a:extLst>
          </p:cNvPr>
          <p:cNvSpPr>
            <a:spLocks noGrp="1"/>
          </p:cNvSpPr>
          <p:nvPr>
            <p:ph type="title"/>
          </p:nvPr>
        </p:nvSpPr>
        <p:spPr>
          <a:xfrm>
            <a:off x="781050" y="1238250"/>
            <a:ext cx="10572750" cy="452438"/>
          </a:xfrm>
        </p:spPr>
        <p:txBody>
          <a:bodyPr>
            <a:normAutofit fontScale="90000"/>
          </a:bodyPr>
          <a:lstStyle/>
          <a:p>
            <a:r>
              <a:rPr lang="en-IN" b="1" dirty="0"/>
              <a:t>Technology Used</a:t>
            </a:r>
            <a:br>
              <a:rPr lang="en-IN" dirty="0"/>
            </a:br>
            <a:br>
              <a:rPr lang="en-IN" dirty="0"/>
            </a:br>
            <a:endParaRPr lang="en-IN" dirty="0"/>
          </a:p>
        </p:txBody>
      </p:sp>
      <p:sp>
        <p:nvSpPr>
          <p:cNvPr id="3" name="Content Placeholder 2">
            <a:extLst>
              <a:ext uri="{FF2B5EF4-FFF2-40B4-BE49-F238E27FC236}">
                <a16:creationId xmlns:a16="http://schemas.microsoft.com/office/drawing/2014/main" id="{9AB49CC3-4957-F21C-E0BD-7ECD85945871}"/>
              </a:ext>
            </a:extLst>
          </p:cNvPr>
          <p:cNvSpPr>
            <a:spLocks noGrp="1"/>
          </p:cNvSpPr>
          <p:nvPr>
            <p:ph idx="1"/>
          </p:nvPr>
        </p:nvSpPr>
        <p:spPr>
          <a:xfrm>
            <a:off x="638175" y="1504950"/>
            <a:ext cx="10715625" cy="4987925"/>
          </a:xfrm>
        </p:spPr>
        <p:txBody>
          <a:bodyPr>
            <a:normAutofit fontScale="77500" lnSpcReduction="20000"/>
          </a:bodyPr>
          <a:lstStyle/>
          <a:p>
            <a:r>
              <a:rPr lang="en-IN" b="1" dirty="0"/>
              <a:t>IBM </a:t>
            </a:r>
            <a:r>
              <a:rPr lang="en-IN" b="1" dirty="0" err="1"/>
              <a:t>watsonx</a:t>
            </a:r>
            <a:r>
              <a:rPr lang="en-IN" b="1" dirty="0"/>
              <a:t> Assistant Platform</a:t>
            </a:r>
            <a:r>
              <a:rPr lang="en-IN" dirty="0"/>
              <a:t> – Used as the core enterprise dialogue orchestration framework to build, configure, and visually map complex incident resolution playbooks without deep code dependencies.</a:t>
            </a:r>
          </a:p>
          <a:p>
            <a:r>
              <a:rPr lang="en-IN" b="1" dirty="0"/>
              <a:t>IBM Granite Model Series</a:t>
            </a:r>
            <a:r>
              <a:rPr lang="en-IN" dirty="0"/>
              <a:t> – Utilized via underlying platform services for foundational Natural Language Understanding (NLU), zero-shot classification of server failures, and exact user intent extraction.</a:t>
            </a:r>
          </a:p>
          <a:p>
            <a:r>
              <a:rPr lang="en-IN" b="1" dirty="0"/>
              <a:t>IBM Cloud Infrastructure</a:t>
            </a:r>
            <a:r>
              <a:rPr lang="en-IN" dirty="0"/>
              <a:t> – Provides the enterprise-grade cloud environment to securely host, execute, and scale the incident router agent, ensuring 99.99% operational availability for production alerts.</a:t>
            </a:r>
          </a:p>
          <a:p>
            <a:r>
              <a:rPr lang="en-IN" b="1" dirty="0"/>
              <a:t>Multi-Branch Conditional Dialog Engine</a:t>
            </a:r>
            <a:r>
              <a:rPr lang="en-IN" dirty="0"/>
              <a:t> – Functions as the platform's core decision routing pipeline, reading unstructured error inputs and executing real-time logic parsing to divide issues into specialized workflows.</a:t>
            </a:r>
          </a:p>
          <a:p>
            <a:r>
              <a:rPr lang="en-IN" b="1" dirty="0"/>
              <a:t>IBM </a:t>
            </a:r>
            <a:r>
              <a:rPr lang="en-IN" b="1" dirty="0" err="1"/>
              <a:t>watsonx</a:t>
            </a:r>
            <a:r>
              <a:rPr lang="en-IN" b="1" dirty="0"/>
              <a:t> Platform Governance</a:t>
            </a:r>
            <a:r>
              <a:rPr lang="en-IN" dirty="0"/>
              <a:t> – Manages runtime conversation metrics, monitors intent detection confidence thresholds, and maintains strict token session tracking across test environments.</a:t>
            </a:r>
          </a:p>
          <a:p>
            <a:r>
              <a:rPr lang="en-IN" b="1" dirty="0"/>
              <a:t>Web Chat Integration Framework</a:t>
            </a:r>
            <a:r>
              <a:rPr lang="en-IN" dirty="0"/>
              <a:t> – Powers the front-end user presentation layer, providing a fully styled, embedded dark-theme interface capable of instant cross-device standalone simulation.</a:t>
            </a:r>
          </a:p>
          <a:p>
            <a:pPr marL="0" indent="0">
              <a:buNone/>
            </a:pPr>
            <a:endParaRPr lang="en-IN" dirty="0"/>
          </a:p>
        </p:txBody>
      </p:sp>
    </p:spTree>
    <p:extLst>
      <p:ext uri="{BB962C8B-B14F-4D97-AF65-F5344CB8AC3E}">
        <p14:creationId xmlns:p14="http://schemas.microsoft.com/office/powerpoint/2010/main" val="3945990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A6562-B74E-BAFC-23F3-B87F7A8211A4}"/>
              </a:ext>
            </a:extLst>
          </p:cNvPr>
          <p:cNvSpPr>
            <a:spLocks noGrp="1"/>
          </p:cNvSpPr>
          <p:nvPr>
            <p:ph type="title"/>
          </p:nvPr>
        </p:nvSpPr>
        <p:spPr/>
        <p:txBody>
          <a:bodyPr>
            <a:normAutofit/>
          </a:bodyPr>
          <a:lstStyle/>
          <a:p>
            <a:r>
              <a:rPr lang="en-IN" sz="3600" b="1" dirty="0" err="1"/>
              <a:t>Langflow</a:t>
            </a:r>
            <a:r>
              <a:rPr lang="en-IN" sz="3600" b="1" dirty="0"/>
              <a:t> component Used -</a:t>
            </a:r>
          </a:p>
        </p:txBody>
      </p:sp>
      <p:sp>
        <p:nvSpPr>
          <p:cNvPr id="3" name="Content Placeholder 2">
            <a:extLst>
              <a:ext uri="{FF2B5EF4-FFF2-40B4-BE49-F238E27FC236}">
                <a16:creationId xmlns:a16="http://schemas.microsoft.com/office/drawing/2014/main" id="{1E170BB4-4DCB-B644-A464-5FBA9EC140E4}"/>
              </a:ext>
            </a:extLst>
          </p:cNvPr>
          <p:cNvSpPr>
            <a:spLocks noGrp="1"/>
          </p:cNvSpPr>
          <p:nvPr>
            <p:ph idx="1"/>
          </p:nvPr>
        </p:nvSpPr>
        <p:spPr>
          <a:xfrm>
            <a:off x="838200" y="2076449"/>
            <a:ext cx="10515600" cy="4416425"/>
          </a:xfrm>
        </p:spPr>
        <p:txBody>
          <a:bodyPr>
            <a:normAutofit fontScale="70000" lnSpcReduction="20000"/>
          </a:bodyPr>
          <a:lstStyle/>
          <a:p>
            <a:pPr marL="0" indent="0">
              <a:buNone/>
            </a:pPr>
            <a:r>
              <a:rPr lang="en-IN" b="1" dirty="0"/>
              <a:t>IBM </a:t>
            </a:r>
            <a:r>
              <a:rPr lang="en-IN" b="1" dirty="0" err="1"/>
              <a:t>watsonx</a:t>
            </a:r>
            <a:r>
              <a:rPr lang="en-IN" b="1" dirty="0"/>
              <a:t> Assistant Components Used</a:t>
            </a:r>
          </a:p>
          <a:p>
            <a:r>
              <a:rPr lang="en-IN" b="1" dirty="0"/>
              <a:t>Action Steps</a:t>
            </a:r>
            <a:r>
              <a:rPr lang="en-IN" dirty="0"/>
              <a:t> – The core structural blocks where I defined the specific logic for incident classification. Each action step acts as a decision point for incoming server alerts.</a:t>
            </a:r>
          </a:p>
          <a:p>
            <a:r>
              <a:rPr lang="en-IN" b="1" dirty="0"/>
              <a:t>Intent Classifier</a:t>
            </a:r>
            <a:r>
              <a:rPr lang="en-IN" dirty="0"/>
              <a:t> – The cognitive engine that </a:t>
            </a:r>
            <a:r>
              <a:rPr lang="en-IN" dirty="0" err="1"/>
              <a:t>analyzes</a:t>
            </a:r>
            <a:r>
              <a:rPr lang="en-IN" dirty="0"/>
              <a:t> user input (e.g., "500 error," "Unauthorized," "Broken link") to map it to the correct resolution workflow.</a:t>
            </a:r>
          </a:p>
          <a:p>
            <a:r>
              <a:rPr lang="en-IN" b="1" dirty="0"/>
              <a:t>Condition-Based Branching</a:t>
            </a:r>
            <a:r>
              <a:rPr lang="en-IN" dirty="0"/>
              <a:t> – The logic gates I configured to route incidents into three distinct paths ($500$, $401$, and $404$ error codes), ensuring the right team receives the right alert.</a:t>
            </a:r>
          </a:p>
          <a:p>
            <a:r>
              <a:rPr lang="en-IN" b="1" dirty="0"/>
              <a:t>Response Types (Options/Buttons)</a:t>
            </a:r>
            <a:r>
              <a:rPr lang="en-IN" dirty="0"/>
              <a:t> – The interactive components used to present technical routing options to the user, providing a clear, guided interface for incident escalation.</a:t>
            </a:r>
          </a:p>
          <a:p>
            <a:r>
              <a:rPr lang="en-IN" b="1" dirty="0"/>
              <a:t>Variables &amp; Session Context</a:t>
            </a:r>
            <a:r>
              <a:rPr lang="en-IN" dirty="0"/>
              <a:t> – Used to store temporary incident data and maintain state throughout the conversation, ensuring the bot "remembers" the error type being handled.</a:t>
            </a:r>
          </a:p>
          <a:p>
            <a:r>
              <a:rPr lang="en-IN" b="1" dirty="0"/>
              <a:t>"End the Action" State</a:t>
            </a:r>
            <a:r>
              <a:rPr lang="en-IN" dirty="0"/>
              <a:t> – The critical safety component I configured to terminate session flows, preventing message bleeding and ensuring each incident is treated as an isolated, secure event.</a:t>
            </a:r>
          </a:p>
          <a:p>
            <a:pPr marL="0" indent="0">
              <a:buNone/>
            </a:pPr>
            <a:endParaRPr lang="en-IN" dirty="0"/>
          </a:p>
        </p:txBody>
      </p:sp>
    </p:spTree>
    <p:extLst>
      <p:ext uri="{BB962C8B-B14F-4D97-AF65-F5344CB8AC3E}">
        <p14:creationId xmlns:p14="http://schemas.microsoft.com/office/powerpoint/2010/main" val="255602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A974A-4680-0276-4C00-DB7FC74755DD}"/>
              </a:ext>
            </a:extLst>
          </p:cNvPr>
          <p:cNvSpPr>
            <a:spLocks noGrp="1"/>
          </p:cNvSpPr>
          <p:nvPr>
            <p:ph type="title"/>
          </p:nvPr>
        </p:nvSpPr>
        <p:spPr>
          <a:xfrm>
            <a:off x="695325" y="1104900"/>
            <a:ext cx="10658475" cy="142876"/>
          </a:xfrm>
        </p:spPr>
        <p:txBody>
          <a:bodyPr>
            <a:normAutofit fontScale="90000"/>
          </a:bodyPr>
          <a:lstStyle/>
          <a:p>
            <a:r>
              <a:rPr lang="en-IN" b="1" dirty="0" err="1"/>
              <a:t>Langflow</a:t>
            </a:r>
            <a:r>
              <a:rPr lang="en-IN" b="1" dirty="0"/>
              <a:t> workflow -</a:t>
            </a:r>
            <a:br>
              <a:rPr lang="en-IN" dirty="0"/>
            </a:br>
            <a:br>
              <a:rPr lang="en-IN" dirty="0"/>
            </a:br>
            <a:endParaRPr lang="en-IN" dirty="0"/>
          </a:p>
        </p:txBody>
      </p:sp>
      <p:pic>
        <p:nvPicPr>
          <p:cNvPr id="5" name="Content Placeholder 4">
            <a:extLst>
              <a:ext uri="{FF2B5EF4-FFF2-40B4-BE49-F238E27FC236}">
                <a16:creationId xmlns:a16="http://schemas.microsoft.com/office/drawing/2014/main" id="{D515F110-5EAE-9578-4EFE-DCEB3658E44F}"/>
              </a:ext>
            </a:extLst>
          </p:cNvPr>
          <p:cNvPicPr>
            <a:picLocks noGrp="1" noChangeAspect="1"/>
          </p:cNvPicPr>
          <p:nvPr>
            <p:ph idx="1"/>
          </p:nvPr>
        </p:nvPicPr>
        <p:blipFill>
          <a:blip r:embed="rId2"/>
          <a:stretch>
            <a:fillRect/>
          </a:stretch>
        </p:blipFill>
        <p:spPr>
          <a:xfrm>
            <a:off x="333374" y="1476375"/>
            <a:ext cx="11249025" cy="5200650"/>
          </a:xfrm>
          <a:prstGeom prst="rect">
            <a:avLst/>
          </a:prstGeom>
        </p:spPr>
      </p:pic>
    </p:spTree>
    <p:extLst>
      <p:ext uri="{BB962C8B-B14F-4D97-AF65-F5344CB8AC3E}">
        <p14:creationId xmlns:p14="http://schemas.microsoft.com/office/powerpoint/2010/main" val="254879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2CCA-5506-1D4E-99ED-5A323CBDFA7E}"/>
              </a:ext>
            </a:extLst>
          </p:cNvPr>
          <p:cNvSpPr>
            <a:spLocks noGrp="1"/>
          </p:cNvSpPr>
          <p:nvPr>
            <p:ph type="title"/>
          </p:nvPr>
        </p:nvSpPr>
        <p:spPr>
          <a:xfrm>
            <a:off x="457200" y="-190499"/>
            <a:ext cx="10896600" cy="1881188"/>
          </a:xfrm>
        </p:spPr>
        <p:txBody>
          <a:bodyPr>
            <a:normAutofit/>
          </a:bodyPr>
          <a:lstStyle/>
          <a:p>
            <a:r>
              <a:rPr lang="en-IN" sz="4000" b="1" dirty="0"/>
              <a:t>Architecture blueprint-</a:t>
            </a:r>
            <a:endParaRPr lang="en-IN" sz="4000" dirty="0"/>
          </a:p>
        </p:txBody>
      </p:sp>
      <p:pic>
        <p:nvPicPr>
          <p:cNvPr id="5" name="Content Placeholder 4">
            <a:extLst>
              <a:ext uri="{FF2B5EF4-FFF2-40B4-BE49-F238E27FC236}">
                <a16:creationId xmlns:a16="http://schemas.microsoft.com/office/drawing/2014/main" id="{77F68000-7BFE-D7D8-F9F7-46A1500A8800}"/>
              </a:ext>
            </a:extLst>
          </p:cNvPr>
          <p:cNvPicPr>
            <a:picLocks noGrp="1" noChangeAspect="1"/>
          </p:cNvPicPr>
          <p:nvPr>
            <p:ph idx="1"/>
          </p:nvPr>
        </p:nvPicPr>
        <p:blipFill>
          <a:blip r:embed="rId2"/>
          <a:stretch>
            <a:fillRect/>
          </a:stretch>
        </p:blipFill>
        <p:spPr>
          <a:xfrm>
            <a:off x="457201" y="1181100"/>
            <a:ext cx="11277600" cy="5410199"/>
          </a:xfrm>
          <a:prstGeom prst="rect">
            <a:avLst/>
          </a:prstGeom>
        </p:spPr>
      </p:pic>
    </p:spTree>
    <p:extLst>
      <p:ext uri="{BB962C8B-B14F-4D97-AF65-F5344CB8AC3E}">
        <p14:creationId xmlns:p14="http://schemas.microsoft.com/office/powerpoint/2010/main" val="3192658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9528A-3CDF-5CAA-46AE-BAC793305F26}"/>
              </a:ext>
            </a:extLst>
          </p:cNvPr>
          <p:cNvSpPr>
            <a:spLocks noGrp="1"/>
          </p:cNvSpPr>
          <p:nvPr>
            <p:ph type="title"/>
          </p:nvPr>
        </p:nvSpPr>
        <p:spPr>
          <a:xfrm>
            <a:off x="209550" y="409575"/>
            <a:ext cx="11144250" cy="1281113"/>
          </a:xfrm>
        </p:spPr>
        <p:txBody>
          <a:bodyPr/>
          <a:lstStyle/>
          <a:p>
            <a:r>
              <a:rPr lang="en-IN" b="1" dirty="0"/>
              <a:t>Role of Agentic AI in the solution:</a:t>
            </a:r>
            <a:endParaRPr lang="en-IN" dirty="0"/>
          </a:p>
        </p:txBody>
      </p:sp>
      <p:sp>
        <p:nvSpPr>
          <p:cNvPr id="3" name="Content Placeholder 2">
            <a:extLst>
              <a:ext uri="{FF2B5EF4-FFF2-40B4-BE49-F238E27FC236}">
                <a16:creationId xmlns:a16="http://schemas.microsoft.com/office/drawing/2014/main" id="{EF40424B-B060-B884-EFB7-F97E15B7D66B}"/>
              </a:ext>
            </a:extLst>
          </p:cNvPr>
          <p:cNvSpPr>
            <a:spLocks noGrp="1"/>
          </p:cNvSpPr>
          <p:nvPr>
            <p:ph idx="1"/>
          </p:nvPr>
        </p:nvSpPr>
        <p:spPr>
          <a:xfrm>
            <a:off x="209550" y="1847849"/>
            <a:ext cx="9096375" cy="5010151"/>
          </a:xfrm>
        </p:spPr>
        <p:txBody>
          <a:bodyPr>
            <a:normAutofit fontScale="62500" lnSpcReduction="20000"/>
          </a:bodyPr>
          <a:lstStyle/>
          <a:p>
            <a:pPr marL="0" indent="0">
              <a:buNone/>
            </a:pPr>
            <a:r>
              <a:rPr lang="en-IN" b="1" dirty="0"/>
              <a:t>Role of Agentic AI in Automated DevOps &amp; IT Incident Router Agent:</a:t>
            </a:r>
          </a:p>
          <a:p>
            <a:r>
              <a:rPr lang="en-IN" dirty="0"/>
              <a:t>Agentic AI enables the Incident Router Agent to function as an intelligent, autonomous system rather than a simple, static chatbot. Using IBM </a:t>
            </a:r>
            <a:r>
              <a:rPr lang="en-IN" dirty="0" err="1"/>
              <a:t>watsonx</a:t>
            </a:r>
            <a:r>
              <a:rPr lang="en-IN" dirty="0"/>
              <a:t> Assistant and underlying IBM Granite model architectures, it coordinates a logical, multi-branch decision tree to deliver instantaneous Level-1 (L1) DevOps triage.</a:t>
            </a:r>
          </a:p>
          <a:p>
            <a:r>
              <a:rPr lang="en-IN" dirty="0"/>
              <a:t>Each branch of the system performs a highly specialized routing role—such as </a:t>
            </a:r>
            <a:r>
              <a:rPr lang="en-IN" dirty="0" err="1"/>
              <a:t>analyzing</a:t>
            </a:r>
            <a:r>
              <a:rPr lang="en-IN" dirty="0"/>
              <a:t> connection errors, handling security handshake failures, and routing frontend asset bugs—working systematically to secure system uptime. This structured, decision-driven approach ensures efficient incident handling and highly accurate, programmatic routing.</a:t>
            </a:r>
          </a:p>
          <a:p>
            <a:r>
              <a:rPr lang="en-IN" dirty="0"/>
              <a:t>Agentic AI also brings context awareness, translating unstructured human descriptions of server failures into deterministic system statuses. By evaluating the natural language input alongside real-time parameters, the agent executes dynamic, conditional branching. It supports real-time adaptation, immediately routing the ticket based on the severity of the code ($500$, $401$, or $404$).</a:t>
            </a:r>
          </a:p>
          <a:p>
            <a:r>
              <a:rPr lang="en-IN" dirty="0"/>
              <a:t>Additionally, the agent enforces strict runtime session governance, utilizing conditional termination states to prevent message bleeding and secure clean handoffs between isolated test environments.</a:t>
            </a:r>
          </a:p>
          <a:p>
            <a:r>
              <a:rPr lang="en-IN" dirty="0"/>
              <a:t>Overall, Agentic AI makes the incident routing system proactive, highly structured, and goal-driven, acting as a smart digital DevOps engineer that dramatically reduces enterprise downtime and safeguards continuous deployment pipelines.</a:t>
            </a:r>
          </a:p>
          <a:p>
            <a:pPr marL="0" indent="0">
              <a:buNone/>
            </a:pPr>
            <a:endParaRPr lang="en-IN" dirty="0"/>
          </a:p>
        </p:txBody>
      </p:sp>
      <p:pic>
        <p:nvPicPr>
          <p:cNvPr id="5" name="Picture 4">
            <a:extLst>
              <a:ext uri="{FF2B5EF4-FFF2-40B4-BE49-F238E27FC236}">
                <a16:creationId xmlns:a16="http://schemas.microsoft.com/office/drawing/2014/main" id="{BCEF5A73-D881-5A6A-6020-5B2CB176670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191626" y="2181225"/>
            <a:ext cx="2886074" cy="3876675"/>
          </a:xfrm>
          <a:prstGeom prst="rect">
            <a:avLst/>
          </a:prstGeom>
        </p:spPr>
      </p:pic>
    </p:spTree>
    <p:extLst>
      <p:ext uri="{BB962C8B-B14F-4D97-AF65-F5344CB8AC3E}">
        <p14:creationId xmlns:p14="http://schemas.microsoft.com/office/powerpoint/2010/main" val="4049738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CC140-B4AD-0C3A-3326-8740A7F8DE5F}"/>
              </a:ext>
            </a:extLst>
          </p:cNvPr>
          <p:cNvSpPr>
            <a:spLocks noGrp="1"/>
          </p:cNvSpPr>
          <p:nvPr>
            <p:ph type="title"/>
          </p:nvPr>
        </p:nvSpPr>
        <p:spPr>
          <a:xfrm>
            <a:off x="1" y="-95249"/>
            <a:ext cx="13173072" cy="981074"/>
          </a:xfrm>
        </p:spPr>
        <p:txBody>
          <a:bodyPr>
            <a:normAutofit/>
          </a:bodyPr>
          <a:lstStyle/>
          <a:p>
            <a:r>
              <a:rPr lang="en-IN" sz="3600" b="1" dirty="0"/>
              <a:t>Token Usage </a:t>
            </a:r>
            <a:endParaRPr lang="en-IN" sz="3600" dirty="0"/>
          </a:p>
        </p:txBody>
      </p:sp>
      <p:sp>
        <p:nvSpPr>
          <p:cNvPr id="3" name="Content Placeholder 2">
            <a:extLst>
              <a:ext uri="{FF2B5EF4-FFF2-40B4-BE49-F238E27FC236}">
                <a16:creationId xmlns:a16="http://schemas.microsoft.com/office/drawing/2014/main" id="{6C6EB355-C160-45D3-7269-A08F851092E3}"/>
              </a:ext>
            </a:extLst>
          </p:cNvPr>
          <p:cNvSpPr>
            <a:spLocks noGrp="1"/>
          </p:cNvSpPr>
          <p:nvPr>
            <p:ph idx="1"/>
          </p:nvPr>
        </p:nvSpPr>
        <p:spPr>
          <a:xfrm>
            <a:off x="466725" y="4171949"/>
            <a:ext cx="10887075" cy="2320926"/>
          </a:xfrm>
        </p:spPr>
        <p:txBody>
          <a:bodyPr>
            <a:normAutofit fontScale="70000" lnSpcReduction="20000"/>
          </a:bodyPr>
          <a:lstStyle/>
          <a:p>
            <a:pPr marL="0" indent="0">
              <a:buNone/>
            </a:pPr>
            <a:r>
              <a:rPr lang="en-IN" b="1" dirty="0"/>
              <a:t>Conversational Analytics &amp; Execution Metrics</a:t>
            </a:r>
          </a:p>
          <a:p>
            <a:r>
              <a:rPr lang="en-IN" b="1" dirty="0"/>
              <a:t>100% Action Completion Rate:</a:t>
            </a:r>
            <a:r>
              <a:rPr lang="en-IN" dirty="0"/>
              <a:t> Proves that 100% of simulated IT incidents ($500$, $401$, and $404$ errors) successfully completed their routing paths and closed securely without getting stuck.</a:t>
            </a:r>
          </a:p>
          <a:p>
            <a:r>
              <a:rPr lang="en-IN" b="1" dirty="0"/>
              <a:t>Zero-Token Static Orchestration:</a:t>
            </a:r>
            <a:r>
              <a:rPr lang="en-IN" dirty="0"/>
              <a:t> By utilizing </a:t>
            </a:r>
            <a:r>
              <a:rPr lang="en-IN" dirty="0" err="1"/>
              <a:t>watsonx</a:t>
            </a:r>
            <a:r>
              <a:rPr lang="en-IN" dirty="0"/>
              <a:t> Assistant’s native logic steps to process the routing, the system runs with </a:t>
            </a:r>
            <a:r>
              <a:rPr lang="en-IN" b="1" dirty="0"/>
              <a:t>zero token overhead</a:t>
            </a:r>
            <a:r>
              <a:rPr lang="en-IN" dirty="0"/>
              <a:t> for deterministic actions.</a:t>
            </a:r>
          </a:p>
          <a:p>
            <a:r>
              <a:rPr lang="en-IN" b="1" dirty="0"/>
              <a:t>LLM Token Efficiency:</a:t>
            </a:r>
            <a:r>
              <a:rPr lang="en-IN" dirty="0"/>
              <a:t> The system only consumes model tokens when the underlying </a:t>
            </a:r>
            <a:r>
              <a:rPr lang="en-IN" b="1" dirty="0"/>
              <a:t>IBM Granite NLU engine</a:t>
            </a:r>
            <a:r>
              <a:rPr lang="en-IN" dirty="0"/>
              <a:t> needs to parse complex, unstructured user inputs to recognize a new error intent, dramatically saving GPU resources.</a:t>
            </a:r>
          </a:p>
          <a:p>
            <a:endParaRPr lang="en-IN" dirty="0"/>
          </a:p>
        </p:txBody>
      </p:sp>
      <p:pic>
        <p:nvPicPr>
          <p:cNvPr id="5" name="Picture 4">
            <a:extLst>
              <a:ext uri="{FF2B5EF4-FFF2-40B4-BE49-F238E27FC236}">
                <a16:creationId xmlns:a16="http://schemas.microsoft.com/office/drawing/2014/main" id="{80CF4D05-A4AA-14B3-1C47-D38D9C8B3D00}"/>
              </a:ext>
            </a:extLst>
          </p:cNvPr>
          <p:cNvPicPr>
            <a:picLocks noChangeAspect="1"/>
          </p:cNvPicPr>
          <p:nvPr/>
        </p:nvPicPr>
        <p:blipFill>
          <a:blip r:embed="rId2"/>
          <a:stretch>
            <a:fillRect/>
          </a:stretch>
        </p:blipFill>
        <p:spPr>
          <a:xfrm>
            <a:off x="1676399" y="760787"/>
            <a:ext cx="8039101" cy="3134938"/>
          </a:xfrm>
          <a:prstGeom prst="rect">
            <a:avLst/>
          </a:prstGeom>
        </p:spPr>
      </p:pic>
    </p:spTree>
    <p:extLst>
      <p:ext uri="{BB962C8B-B14F-4D97-AF65-F5344CB8AC3E}">
        <p14:creationId xmlns:p14="http://schemas.microsoft.com/office/powerpoint/2010/main" val="385055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49F45-E309-C435-674E-B512B000FEF0}"/>
              </a:ext>
            </a:extLst>
          </p:cNvPr>
          <p:cNvSpPr>
            <a:spLocks noGrp="1"/>
          </p:cNvSpPr>
          <p:nvPr>
            <p:ph type="title"/>
          </p:nvPr>
        </p:nvSpPr>
        <p:spPr>
          <a:xfrm>
            <a:off x="142875" y="-342899"/>
            <a:ext cx="11210925" cy="2033588"/>
          </a:xfrm>
        </p:spPr>
        <p:txBody>
          <a:bodyPr>
            <a:normAutofit/>
          </a:bodyPr>
          <a:lstStyle/>
          <a:p>
            <a:r>
              <a:rPr lang="en-IN" sz="3600" b="1" dirty="0"/>
              <a:t>Novelty and Uniqueness</a:t>
            </a:r>
            <a:endParaRPr lang="en-IN" sz="3600" dirty="0"/>
          </a:p>
        </p:txBody>
      </p:sp>
      <p:sp>
        <p:nvSpPr>
          <p:cNvPr id="3" name="Content Placeholder 2">
            <a:extLst>
              <a:ext uri="{FF2B5EF4-FFF2-40B4-BE49-F238E27FC236}">
                <a16:creationId xmlns:a16="http://schemas.microsoft.com/office/drawing/2014/main" id="{22DFC82E-6352-1F0F-177C-9998CF2022AA}"/>
              </a:ext>
            </a:extLst>
          </p:cNvPr>
          <p:cNvSpPr>
            <a:spLocks noGrp="1"/>
          </p:cNvSpPr>
          <p:nvPr>
            <p:ph idx="1"/>
          </p:nvPr>
        </p:nvSpPr>
        <p:spPr>
          <a:xfrm>
            <a:off x="361950" y="1238250"/>
            <a:ext cx="10991850" cy="5829301"/>
          </a:xfrm>
        </p:spPr>
        <p:txBody>
          <a:bodyPr>
            <a:normAutofit fontScale="62500" lnSpcReduction="20000"/>
          </a:bodyPr>
          <a:lstStyle/>
          <a:p>
            <a:pPr marL="0" indent="0">
              <a:buNone/>
            </a:pPr>
            <a:r>
              <a:rPr lang="en-IN" dirty="0"/>
              <a:t>The proposed Automated DevOps &amp; IT Incident Router Agent stands out by combining deterministic routing, platform-native Natural Language Understanding (NLU), and robust session isolation into a single intelligent system.</a:t>
            </a:r>
          </a:p>
          <a:p>
            <a:endParaRPr lang="en-IN" b="1" dirty="0"/>
          </a:p>
          <a:p>
            <a:r>
              <a:rPr lang="en-IN" b="1" dirty="0"/>
              <a:t>Multi-Branch Deterministic Intelligence</a:t>
            </a:r>
            <a:r>
              <a:rPr lang="en-IN" dirty="0"/>
              <a:t> – Instead of a generic static FAQ chatbot, multiple specialized logic branches ($500$, $401$, and $404$) process technical parameters to deliver exact engineering escalation targets.</a:t>
            </a:r>
          </a:p>
          <a:p>
            <a:r>
              <a:rPr lang="en-IN" b="1" dirty="0"/>
              <a:t>Granite-Powered Intent Recognition</a:t>
            </a:r>
            <a:r>
              <a:rPr lang="en-IN" dirty="0"/>
              <a:t> – Integrates the underlying IBM Granite model series to translate unstructured, chaotic server alerts or human descriptions of system failures into precise, actionable intent categories.</a:t>
            </a:r>
          </a:p>
          <a:p>
            <a:r>
              <a:rPr lang="en-IN" b="1" dirty="0"/>
              <a:t>Context-Aware Triage</a:t>
            </a:r>
            <a:r>
              <a:rPr lang="en-IN" dirty="0"/>
              <a:t> – Tailors incident severity levels based on specific response parameters, ensuring high-priority security breaches or database crashes bypass standard lines and reach the correct team instantly.</a:t>
            </a:r>
          </a:p>
          <a:p>
            <a:r>
              <a:rPr lang="en-IN" b="1" dirty="0"/>
              <a:t>Deterministic Flow Optimization</a:t>
            </a:r>
            <a:r>
              <a:rPr lang="en-IN" dirty="0"/>
              <a:t> – Eliminates the high cost and latency of standard generative loops by handling core routing decisions via platform-level rules, invoking the LLM only for intent discovery.</a:t>
            </a:r>
          </a:p>
          <a:p>
            <a:r>
              <a:rPr lang="en-IN" b="1" dirty="0"/>
              <a:t>Web Chat Standalone Integration</a:t>
            </a:r>
            <a:r>
              <a:rPr lang="en-IN" dirty="0"/>
              <a:t> – Features an enterprise-ready, customized dark-theme web widget designed for instant simulation and isolated staging environment deployments.</a:t>
            </a:r>
          </a:p>
          <a:p>
            <a:r>
              <a:rPr lang="en-IN" b="1" dirty="0"/>
              <a:t>Operational Security &amp; Isolation</a:t>
            </a:r>
            <a:r>
              <a:rPr lang="en-IN" dirty="0"/>
              <a:t> – Employs strict "End the action" states as a core architectural guardrail, completely eliminating conversation bleeding and safeguarding multi-tenant session security.</a:t>
            </a:r>
          </a:p>
          <a:p>
            <a:r>
              <a:rPr lang="en-IN" b="1" dirty="0"/>
              <a:t>Scalable &amp; Enterprise-Ready</a:t>
            </a:r>
            <a:r>
              <a:rPr lang="en-IN" dirty="0"/>
              <a:t> – Built natively within the IBM </a:t>
            </a:r>
            <a:r>
              <a:rPr lang="en-IN" dirty="0" err="1"/>
              <a:t>watsonx</a:t>
            </a:r>
            <a:r>
              <a:rPr lang="en-IN" dirty="0"/>
              <a:t> Assistant framework, ensuring bank-grade AI governance, compliance tracking, and reliable resource scaling.</a:t>
            </a:r>
          </a:p>
          <a:p>
            <a:r>
              <a:rPr lang="en-IN" dirty="0"/>
              <a:t>This makes the solution a smart, highly secure, and proactive infrastructure gatekeeper, not just a static system-alert dashboard.</a:t>
            </a:r>
          </a:p>
          <a:p>
            <a:pPr marL="0" indent="0">
              <a:buNone/>
            </a:pPr>
            <a:endParaRPr lang="en-IN" dirty="0"/>
          </a:p>
        </p:txBody>
      </p:sp>
    </p:spTree>
    <p:extLst>
      <p:ext uri="{BB962C8B-B14F-4D97-AF65-F5344CB8AC3E}">
        <p14:creationId xmlns:p14="http://schemas.microsoft.com/office/powerpoint/2010/main" val="949972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BF21-FC46-B864-9773-835DB0C0E45F}"/>
              </a:ext>
            </a:extLst>
          </p:cNvPr>
          <p:cNvSpPr>
            <a:spLocks noGrp="1"/>
          </p:cNvSpPr>
          <p:nvPr>
            <p:ph type="title"/>
          </p:nvPr>
        </p:nvSpPr>
        <p:spPr>
          <a:xfrm>
            <a:off x="323850" y="1"/>
            <a:ext cx="11029950" cy="1690688"/>
          </a:xfrm>
        </p:spPr>
        <p:txBody>
          <a:bodyPr>
            <a:normAutofit/>
          </a:bodyPr>
          <a:lstStyle/>
          <a:p>
            <a:r>
              <a:rPr lang="en-IN" sz="3600" b="1" dirty="0"/>
              <a:t>Git Hub Link:</a:t>
            </a:r>
            <a:endParaRPr lang="en-IN" sz="3600" dirty="0"/>
          </a:p>
        </p:txBody>
      </p:sp>
      <p:sp>
        <p:nvSpPr>
          <p:cNvPr id="3" name="Content Placeholder 2">
            <a:extLst>
              <a:ext uri="{FF2B5EF4-FFF2-40B4-BE49-F238E27FC236}">
                <a16:creationId xmlns:a16="http://schemas.microsoft.com/office/drawing/2014/main" id="{0511CE1C-79BC-92F7-842E-BE7FA49BD2DA}"/>
              </a:ext>
            </a:extLst>
          </p:cNvPr>
          <p:cNvSpPr>
            <a:spLocks noGrp="1"/>
          </p:cNvSpPr>
          <p:nvPr>
            <p:ph idx="1"/>
          </p:nvPr>
        </p:nvSpPr>
        <p:spPr>
          <a:xfrm>
            <a:off x="552451" y="1809749"/>
            <a:ext cx="10801350" cy="4367213"/>
          </a:xfrm>
        </p:spPr>
        <p:txBody>
          <a:bodyPr/>
          <a:lstStyle/>
          <a:p>
            <a:pPr marL="0" indent="0">
              <a:buNone/>
            </a:pPr>
            <a:r>
              <a:rPr lang="en-IN" dirty="0"/>
              <a:t>https://github.com/Vibhu-18/Enterprise-IT-Incident-Routing-Automation</a:t>
            </a:r>
          </a:p>
        </p:txBody>
      </p:sp>
    </p:spTree>
    <p:extLst>
      <p:ext uri="{BB962C8B-B14F-4D97-AF65-F5344CB8AC3E}">
        <p14:creationId xmlns:p14="http://schemas.microsoft.com/office/powerpoint/2010/main" val="1449219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97B7A-3FA6-587F-8500-BBF7C371AA2E}"/>
              </a:ext>
            </a:extLst>
          </p:cNvPr>
          <p:cNvSpPr>
            <a:spLocks noGrp="1"/>
          </p:cNvSpPr>
          <p:nvPr>
            <p:ph type="title"/>
          </p:nvPr>
        </p:nvSpPr>
        <p:spPr>
          <a:xfrm>
            <a:off x="371475" y="336550"/>
            <a:ext cx="10515600" cy="1325563"/>
          </a:xfrm>
        </p:spPr>
        <p:txBody>
          <a:bodyPr>
            <a:normAutofit/>
          </a:bodyPr>
          <a:lstStyle/>
          <a:p>
            <a:r>
              <a:rPr lang="en-IN" sz="4000" b="1" dirty="0"/>
              <a:t>Future Scope:</a:t>
            </a:r>
            <a:endParaRPr lang="en-IN" sz="4000" dirty="0"/>
          </a:p>
        </p:txBody>
      </p:sp>
      <p:sp>
        <p:nvSpPr>
          <p:cNvPr id="3" name="Content Placeholder 2">
            <a:extLst>
              <a:ext uri="{FF2B5EF4-FFF2-40B4-BE49-F238E27FC236}">
                <a16:creationId xmlns:a16="http://schemas.microsoft.com/office/drawing/2014/main" id="{B58B2E75-41B0-29E4-3C11-568B2698EC69}"/>
              </a:ext>
            </a:extLst>
          </p:cNvPr>
          <p:cNvSpPr>
            <a:spLocks noGrp="1"/>
          </p:cNvSpPr>
          <p:nvPr>
            <p:ph idx="1"/>
          </p:nvPr>
        </p:nvSpPr>
        <p:spPr>
          <a:xfrm>
            <a:off x="552451" y="1662113"/>
            <a:ext cx="10801350" cy="4514849"/>
          </a:xfrm>
        </p:spPr>
        <p:txBody>
          <a:bodyPr>
            <a:normAutofit fontScale="92500" lnSpcReduction="20000"/>
          </a:bodyPr>
          <a:lstStyle/>
          <a:p>
            <a:r>
              <a:rPr lang="en-IN" b="1" dirty="0"/>
              <a:t>Integration with Enterprise Monitoring Platforms &amp; Webhooks</a:t>
            </a:r>
            <a:r>
              <a:rPr lang="en-IN" dirty="0"/>
              <a:t> – The system can be natively integrated with industry-standard observability tools like Prometheus, Grafana, Datadog, or PagerDuty using secure webhooks. This will enable the Incident Router Agent to automatically ingest real-time infrastructure telemetry, system logs, and automated server alerts, moving beyond manual user input to trigger instant, machine-to-machine DevOps triage.</a:t>
            </a:r>
          </a:p>
          <a:p>
            <a:r>
              <a:rPr lang="en-IN" b="1" dirty="0"/>
              <a:t>Autonomous Remediation &amp; AI-Powered Voice Escalation</a:t>
            </a:r>
            <a:r>
              <a:rPr lang="en-IN" dirty="0"/>
              <a:t> – Enhancing the system with automated script execution capabilities will allow the agent to not just route tickets, but proactively initiate basic recovery playbooks (such as restarting an isolated server pod or flushing an API gateway cache). Additionally, integrating voice-enabled outbound notification frameworks will allow the system to directly call on-call engineers during critical tier-1 outages, drastically reducing the enterprise Mean Time to Resolution (MTTR).</a:t>
            </a:r>
          </a:p>
          <a:p>
            <a:pPr marL="0" indent="0">
              <a:buNone/>
            </a:pPr>
            <a:endParaRPr lang="en-IN" dirty="0"/>
          </a:p>
        </p:txBody>
      </p:sp>
    </p:spTree>
    <p:extLst>
      <p:ext uri="{BB962C8B-B14F-4D97-AF65-F5344CB8AC3E}">
        <p14:creationId xmlns:p14="http://schemas.microsoft.com/office/powerpoint/2010/main" val="378414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EBC34-31BE-E508-CB46-B744A1296B38}"/>
              </a:ext>
            </a:extLst>
          </p:cNvPr>
          <p:cNvSpPr>
            <a:spLocks noGrp="1"/>
          </p:cNvSpPr>
          <p:nvPr>
            <p:ph type="title"/>
          </p:nvPr>
        </p:nvSpPr>
        <p:spPr>
          <a:xfrm>
            <a:off x="0" y="-171449"/>
            <a:ext cx="11353799" cy="767464"/>
          </a:xfrm>
        </p:spPr>
        <p:txBody>
          <a:bodyPr>
            <a:normAutofit/>
          </a:bodyPr>
          <a:lstStyle/>
          <a:p>
            <a:r>
              <a:rPr lang="en-IN" sz="2800" b="1" dirty="0"/>
              <a:t>Certificates Earned:</a:t>
            </a:r>
            <a:endParaRPr lang="en-IN" sz="2800" dirty="0"/>
          </a:p>
        </p:txBody>
      </p:sp>
      <p:pic>
        <p:nvPicPr>
          <p:cNvPr id="5" name="Content Placeholder 4">
            <a:extLst>
              <a:ext uri="{FF2B5EF4-FFF2-40B4-BE49-F238E27FC236}">
                <a16:creationId xmlns:a16="http://schemas.microsoft.com/office/drawing/2014/main" id="{93A33AD7-7FFF-7C0E-BD84-40EED4D6F7D2}"/>
              </a:ext>
            </a:extLst>
          </p:cNvPr>
          <p:cNvPicPr>
            <a:picLocks noGrp="1" noChangeAspect="1"/>
          </p:cNvPicPr>
          <p:nvPr>
            <p:ph idx="1"/>
          </p:nvPr>
        </p:nvPicPr>
        <p:blipFill>
          <a:blip r:embed="rId2"/>
          <a:stretch>
            <a:fillRect/>
          </a:stretch>
        </p:blipFill>
        <p:spPr>
          <a:xfrm>
            <a:off x="133350" y="345743"/>
            <a:ext cx="3990975" cy="3180261"/>
          </a:xfrm>
          <a:prstGeom prst="rect">
            <a:avLst/>
          </a:prstGeom>
        </p:spPr>
      </p:pic>
      <p:pic>
        <p:nvPicPr>
          <p:cNvPr id="7" name="Picture 6">
            <a:extLst>
              <a:ext uri="{FF2B5EF4-FFF2-40B4-BE49-F238E27FC236}">
                <a16:creationId xmlns:a16="http://schemas.microsoft.com/office/drawing/2014/main" id="{DB15424F-E672-74C1-9B9B-071CC83080BF}"/>
              </a:ext>
            </a:extLst>
          </p:cNvPr>
          <p:cNvPicPr>
            <a:picLocks noChangeAspect="1"/>
          </p:cNvPicPr>
          <p:nvPr/>
        </p:nvPicPr>
        <p:blipFill>
          <a:blip r:embed="rId3"/>
          <a:stretch>
            <a:fillRect/>
          </a:stretch>
        </p:blipFill>
        <p:spPr>
          <a:xfrm>
            <a:off x="4191000" y="345743"/>
            <a:ext cx="3990975" cy="3180261"/>
          </a:xfrm>
          <a:prstGeom prst="rect">
            <a:avLst/>
          </a:prstGeom>
        </p:spPr>
      </p:pic>
      <p:pic>
        <p:nvPicPr>
          <p:cNvPr id="9" name="Picture 8">
            <a:extLst>
              <a:ext uri="{FF2B5EF4-FFF2-40B4-BE49-F238E27FC236}">
                <a16:creationId xmlns:a16="http://schemas.microsoft.com/office/drawing/2014/main" id="{E0EA7201-C015-5FB6-0516-998128F8E38C}"/>
              </a:ext>
            </a:extLst>
          </p:cNvPr>
          <p:cNvPicPr>
            <a:picLocks noChangeAspect="1"/>
          </p:cNvPicPr>
          <p:nvPr/>
        </p:nvPicPr>
        <p:blipFill>
          <a:blip r:embed="rId4"/>
          <a:stretch>
            <a:fillRect/>
          </a:stretch>
        </p:blipFill>
        <p:spPr>
          <a:xfrm>
            <a:off x="8248650" y="345743"/>
            <a:ext cx="3810000" cy="3180261"/>
          </a:xfrm>
          <a:prstGeom prst="rect">
            <a:avLst/>
          </a:prstGeom>
        </p:spPr>
      </p:pic>
      <p:pic>
        <p:nvPicPr>
          <p:cNvPr id="11" name="Picture 10">
            <a:extLst>
              <a:ext uri="{FF2B5EF4-FFF2-40B4-BE49-F238E27FC236}">
                <a16:creationId xmlns:a16="http://schemas.microsoft.com/office/drawing/2014/main" id="{4AF38863-0F50-9381-4EAE-1F0F9BCAFC56}"/>
              </a:ext>
            </a:extLst>
          </p:cNvPr>
          <p:cNvPicPr>
            <a:picLocks noChangeAspect="1"/>
          </p:cNvPicPr>
          <p:nvPr/>
        </p:nvPicPr>
        <p:blipFill>
          <a:blip r:embed="rId5"/>
          <a:stretch>
            <a:fillRect/>
          </a:stretch>
        </p:blipFill>
        <p:spPr>
          <a:xfrm>
            <a:off x="295275" y="3619500"/>
            <a:ext cx="5551603" cy="3105150"/>
          </a:xfrm>
          <a:prstGeom prst="rect">
            <a:avLst/>
          </a:prstGeom>
        </p:spPr>
      </p:pic>
      <p:pic>
        <p:nvPicPr>
          <p:cNvPr id="13" name="Picture 12">
            <a:extLst>
              <a:ext uri="{FF2B5EF4-FFF2-40B4-BE49-F238E27FC236}">
                <a16:creationId xmlns:a16="http://schemas.microsoft.com/office/drawing/2014/main" id="{276FDCE7-CBED-16BF-628D-F6C4319F22F1}"/>
              </a:ext>
            </a:extLst>
          </p:cNvPr>
          <p:cNvPicPr>
            <a:picLocks noChangeAspect="1"/>
          </p:cNvPicPr>
          <p:nvPr/>
        </p:nvPicPr>
        <p:blipFill>
          <a:blip r:embed="rId6"/>
          <a:stretch>
            <a:fillRect/>
          </a:stretch>
        </p:blipFill>
        <p:spPr>
          <a:xfrm>
            <a:off x="6229350" y="3619500"/>
            <a:ext cx="5667375" cy="3105150"/>
          </a:xfrm>
          <a:prstGeom prst="rect">
            <a:avLst/>
          </a:prstGeom>
        </p:spPr>
      </p:pic>
    </p:spTree>
    <p:extLst>
      <p:ext uri="{BB962C8B-B14F-4D97-AF65-F5344CB8AC3E}">
        <p14:creationId xmlns:p14="http://schemas.microsoft.com/office/powerpoint/2010/main" val="3507063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9898E-8FD2-C926-7812-60398411C31B}"/>
              </a:ext>
            </a:extLst>
          </p:cNvPr>
          <p:cNvSpPr>
            <a:spLocks noGrp="1"/>
          </p:cNvSpPr>
          <p:nvPr>
            <p:ph type="title"/>
          </p:nvPr>
        </p:nvSpPr>
        <p:spPr>
          <a:xfrm>
            <a:off x="95249" y="681037"/>
            <a:ext cx="10067925" cy="566738"/>
          </a:xfrm>
        </p:spPr>
        <p:txBody>
          <a:bodyPr>
            <a:normAutofit fontScale="90000"/>
          </a:bodyPr>
          <a:lstStyle/>
          <a:p>
            <a:r>
              <a:rPr lang="en-IN" b="1" dirty="0"/>
              <a:t>Certificates Earned:</a:t>
            </a:r>
            <a:r>
              <a:rPr lang="en-IN" dirty="0"/>
              <a:t>​</a:t>
            </a:r>
            <a:br>
              <a:rPr lang="en-IN" dirty="0"/>
            </a:br>
            <a:r>
              <a:rPr lang="en-IN" dirty="0"/>
              <a:t> </a:t>
            </a:r>
            <a:r>
              <a:rPr lang="en-IN" sz="2700" dirty="0"/>
              <a:t>IBM BOB Certificate</a:t>
            </a:r>
            <a:br>
              <a:rPr lang="en-IN" dirty="0"/>
            </a:br>
            <a:endParaRPr lang="en-IN" dirty="0"/>
          </a:p>
        </p:txBody>
      </p:sp>
      <p:pic>
        <p:nvPicPr>
          <p:cNvPr id="5" name="Content Placeholder 4">
            <a:extLst>
              <a:ext uri="{FF2B5EF4-FFF2-40B4-BE49-F238E27FC236}">
                <a16:creationId xmlns:a16="http://schemas.microsoft.com/office/drawing/2014/main" id="{A04EADC8-B474-5B71-F693-6699C8AAF1C6}"/>
              </a:ext>
            </a:extLst>
          </p:cNvPr>
          <p:cNvPicPr>
            <a:picLocks noGrp="1" noChangeAspect="1"/>
          </p:cNvPicPr>
          <p:nvPr>
            <p:ph idx="1"/>
          </p:nvPr>
        </p:nvPicPr>
        <p:blipFill>
          <a:blip r:embed="rId2"/>
          <a:stretch>
            <a:fillRect/>
          </a:stretch>
        </p:blipFill>
        <p:spPr>
          <a:xfrm>
            <a:off x="1923536" y="1428750"/>
            <a:ext cx="8325364" cy="4991100"/>
          </a:xfrm>
          <a:prstGeom prst="rect">
            <a:avLst/>
          </a:prstGeom>
        </p:spPr>
      </p:pic>
    </p:spTree>
    <p:extLst>
      <p:ext uri="{BB962C8B-B14F-4D97-AF65-F5344CB8AC3E}">
        <p14:creationId xmlns:p14="http://schemas.microsoft.com/office/powerpoint/2010/main" val="3877390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053D-A6DB-C177-81F7-E9780A1BA4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1DB28E-C548-5BE7-C76F-3277560CEF75}"/>
              </a:ext>
            </a:extLst>
          </p:cNvPr>
          <p:cNvSpPr>
            <a:spLocks noGrp="1"/>
          </p:cNvSpPr>
          <p:nvPr>
            <p:ph idx="1"/>
          </p:nvPr>
        </p:nvSpPr>
        <p:spPr>
          <a:xfrm>
            <a:off x="-66675" y="2352675"/>
            <a:ext cx="11420475" cy="3824288"/>
          </a:xfrm>
        </p:spPr>
        <p:txBody>
          <a:bodyPr>
            <a:normAutofit/>
          </a:bodyPr>
          <a:lstStyle/>
          <a:p>
            <a:pPr marL="0" indent="0">
              <a:buNone/>
            </a:pPr>
            <a:r>
              <a:rPr lang="en-US" sz="6000" dirty="0">
                <a:latin typeface="Algerian" panose="04020705040A02060702" pitchFamily="82" charset="0"/>
              </a:rPr>
              <a:t>                 THANK YOU !</a:t>
            </a:r>
            <a:endParaRPr lang="en-IN" sz="6000" dirty="0">
              <a:latin typeface="Algerian" panose="04020705040A02060702" pitchFamily="82" charset="0"/>
            </a:endParaRPr>
          </a:p>
        </p:txBody>
      </p:sp>
    </p:spTree>
    <p:extLst>
      <p:ext uri="{BB962C8B-B14F-4D97-AF65-F5344CB8AC3E}">
        <p14:creationId xmlns:p14="http://schemas.microsoft.com/office/powerpoint/2010/main" val="1829863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602</TotalTime>
  <Words>1892</Words>
  <Application>Microsoft Office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Algerian</vt:lpstr>
      <vt:lpstr>Arial</vt:lpstr>
      <vt:lpstr>Calibri</vt:lpstr>
      <vt:lpstr>Calibri Light</vt:lpstr>
      <vt:lpstr>Office Theme</vt:lpstr>
      <vt:lpstr>IBM University Engagement Project Submission</vt:lpstr>
      <vt:lpstr>Project Tile – Automated DevOps &amp; IT Incident Router Agent using IBM watsonx Assistant  Domain of  Project – Cloud Computing / DevOps / IT Automation</vt:lpstr>
      <vt:lpstr>Problem Statement -</vt:lpstr>
      <vt:lpstr>Proposed Solution -</vt:lpstr>
      <vt:lpstr>Technology Used  </vt:lpstr>
      <vt:lpstr>Langflow component Used -</vt:lpstr>
      <vt:lpstr>Langflow workflow -  </vt:lpstr>
      <vt:lpstr>Architecture blueprint-</vt:lpstr>
      <vt:lpstr>Role of Agentic AI in the solution:</vt:lpstr>
      <vt:lpstr>Token Usage </vt:lpstr>
      <vt:lpstr>Novelty and Uniqueness</vt:lpstr>
      <vt:lpstr>Git Hub Link:</vt:lpstr>
      <vt:lpstr>Future Scope:</vt:lpstr>
      <vt:lpstr>Certificates Earned:</vt:lpstr>
      <vt:lpstr>Certificates Earned:​  IBM BOB Certificate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VIBHUTI SHARMA</dc:creator>
  <cp:lastModifiedBy>VIBHUTI SHARMA</cp:lastModifiedBy>
  <cp:revision>2</cp:revision>
  <dcterms:created xsi:type="dcterms:W3CDTF">2026-07-12T04:40:54Z</dcterms:created>
  <dcterms:modified xsi:type="dcterms:W3CDTF">2026-07-12T14:44:18Z</dcterms:modified>
</cp:coreProperties>
</file>